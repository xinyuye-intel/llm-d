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09728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1A1A"/>
                </a:solidFill>
              </a:rPr>
              <a:t>Tiered Prefix-Cache KV-Offloading on 32x Intel Arc Pro B60 - Baseline vs CPU vs 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03504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50" b="1">
                <a:solidFill>
                  <a:srgbClr val="7F7F7F"/>
                </a:solidFill>
              </a:rPr>
              <a:t>Baseline (no offload):  </a:t>
            </a:r>
            <a:r>
              <a:rPr sz="1050">
                <a:solidFill>
                  <a:srgbClr val="333333"/>
                </a:solidFill>
              </a:rPr>
              <a:t>GPU-only prefix cache; evicts &amp; recomputes once the reuse set exceeds VRAM.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1F77B4"/>
                </a:solidFill>
              </a:rPr>
              <a:t>Native CPU offload:  </a:t>
            </a:r>
            <a:r>
              <a:rPr sz="1050">
                <a:solidFill>
                  <a:srgbClr val="333333"/>
                </a:solidFill>
              </a:rPr>
              <a:t>KV blocks spill VRAM -&gt; host RAM (OffloadingConnector); tier ~80% of reuse set.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2CA02C"/>
                </a:solidFill>
              </a:rPr>
              <a:t>Native FS offload:  </a:t>
            </a:r>
            <a:r>
              <a:rPr sz="1050">
                <a:solidFill>
                  <a:srgbClr val="333333"/>
                </a:solidFill>
              </a:rPr>
              <a:t>KV blocks spill VRAM -&gt; CPU -&gt; node-local NVMe (TieringOffloadingSpec); holds ~full set.</a:t>
            </a:r>
          </a:p>
        </p:txBody>
      </p:sp>
      <p:pic>
        <p:nvPicPr>
          <p:cNvPr id="4" name="Picture 3" descr="benchmark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481328"/>
            <a:ext cx="7315200" cy="312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463040"/>
            <a:ext cx="438912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0F0F"/>
                </a:solidFill>
              </a:rPr>
              <a:t>Key findings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153A6B"/>
                </a:solidFill>
              </a:rPr>
              <a:t>Qwen3-30B-A3B &amp; Qwen3-32B - FS wins</a:t>
            </a:r>
          </a:p>
          <a:p>
            <a:pPr>
              <a:spcAft>
                <a:spcPts val="100"/>
              </a:spcAft>
            </a:pPr>
            <a:r>
              <a:rPr sz="950">
                <a:solidFill>
                  <a:srgbClr val="222222"/>
                </a:solidFill>
              </a:rPr>
              <a:t>- FS best across the full 2-32 ladder; ~85-87% tier-hit.</a:t>
            </a:r>
          </a:p>
          <a:p>
            <a:pPr>
              <a:spcAft>
                <a:spcPts val="100"/>
              </a:spcAft>
            </a:pPr>
            <a:r>
              <a:rPr sz="950">
                <a:solidFill>
                  <a:srgbClr val="222222"/>
                </a:solidFill>
              </a:rPr>
              <a:t>- At 32 QPS FS gives +50% tok/s / -46% TTFT (32B) and +30% / -57% (30B) vs baseline.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153A6B"/>
                </a:solidFill>
              </a:rPr>
              <a:t>Llama-3 70B - load-dependent</a:t>
            </a:r>
          </a:p>
          <a:p>
            <a:pPr>
              <a:spcAft>
                <a:spcPts val="100"/>
              </a:spcAft>
            </a:pPr>
            <a:r>
              <a:rPr sz="950">
                <a:solidFill>
                  <a:srgbClr val="222222"/>
                </a:solidFill>
              </a:rPr>
              <a:t>- Baseline best at light load (&lt;=2 QPS): offload not yet amortized.</a:t>
            </a:r>
          </a:p>
          <a:p>
            <a:pPr>
              <a:spcAft>
                <a:spcPts val="100"/>
              </a:spcAft>
            </a:pPr>
            <a:r>
              <a:rPr sz="950">
                <a:solidFill>
                  <a:srgbClr val="222222"/>
                </a:solidFill>
              </a:rPr>
              <a:t>- FS wins from ~4 QPS; +29% tok/s / -42% TTFT at 6 QPS, ~68% tier-hit.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153A6B"/>
                </a:solidFill>
              </a:rPr>
              <a:t>Bottom line</a:t>
            </a:r>
          </a:p>
          <a:p>
            <a:pPr>
              <a:spcAft>
                <a:spcPts val="100"/>
              </a:spcAft>
            </a:pPr>
            <a:r>
              <a:rPr sz="950">
                <a:solidFill>
                  <a:srgbClr val="186018"/>
                </a:solidFill>
              </a:rPr>
              <a:t>- Native FS offload is the recommended tier for sustained load on all three models.</a:t>
            </a:r>
          </a:p>
          <a:p>
            <a:pPr>
              <a:spcAft>
                <a:spcPts val="100"/>
              </a:spcAft>
            </a:pPr>
            <a:r>
              <a:rPr sz="950">
                <a:solidFill>
                  <a:srgbClr val="222222"/>
                </a:solidFill>
              </a:rPr>
              <a:t>- PCIe-bound (no Xe-Link) - pays off once recompute pressure exceeds transfer cost.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45152"/>
            <a:ext cx="1161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F0F0F"/>
                </a:solidFill>
              </a:rPr>
              <a:t>Aggregated results at each model's peak sustained (failure-free) QPS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4937760"/>
          <a:ext cx="1164031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86000"/>
                <a:gridCol w="1468526"/>
                <a:gridCol w="1468526"/>
                <a:gridCol w="1468526"/>
                <a:gridCol w="1468526"/>
                <a:gridCol w="1468526"/>
              </a:tblGrid>
              <a:tr h="17373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marT="12700" marB="12700" marL="50800" marR="50800" anchor="ctr">
                    <a:solidFill>
                      <a:srgbClr val="2F4B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Config</a:t>
                      </a:r>
                    </a:p>
                  </a:txBody>
                  <a:tcPr marT="12700" marB="12700" marL="50800" marR="50800" anchor="ctr">
                    <a:solidFill>
                      <a:srgbClr val="2F4B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Peak QPS</a:t>
                      </a:r>
                    </a:p>
                  </a:txBody>
                  <a:tcPr marT="12700" marB="12700" marL="50800" marR="50800" anchor="ctr">
                    <a:solidFill>
                      <a:srgbClr val="2F4B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Out tok/s</a:t>
                      </a:r>
                    </a:p>
                  </a:txBody>
                  <a:tcPr marT="12700" marB="12700" marL="50800" marR="50800" anchor="ctr">
                    <a:solidFill>
                      <a:srgbClr val="2F4B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TTFT mean (s)</a:t>
                      </a:r>
                    </a:p>
                  </a:txBody>
                  <a:tcPr marT="12700" marB="12700" marL="50800" marR="50800" anchor="ctr">
                    <a:solidFill>
                      <a:srgbClr val="2F4B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E2E p99 (s)</a:t>
                      </a:r>
                    </a:p>
                  </a:txBody>
                  <a:tcPr marT="12700" marB="12700" marL="50800" marR="50800" anchor="ctr">
                    <a:solidFill>
                      <a:srgbClr val="2F4B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Tier-hit %</a:t>
                      </a:r>
                    </a:p>
                  </a:txBody>
                  <a:tcPr marT="12700" marB="12700" marL="50800" marR="50800" anchor="ctr">
                    <a:solidFill>
                      <a:srgbClr val="2F4B6E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Llama-3 70B</a:t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7F7F7F"/>
                          </a:solidFill>
                        </a:rPr>
                        <a:t>Baseline</a:t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6</a:t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305</a:t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100.38</a:t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238.7</a:t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-</a:t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/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77B4"/>
                          </a:solidFill>
                        </a:rPr>
                        <a:t>Native CPU offload</a:t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6</a:t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340</a:t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90.69</a:t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216.0</a:t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43</a:t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/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CA02C"/>
                          </a:solidFill>
                        </a:rPr>
                        <a:t>Native FS offload</a:t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6</a:t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393</a:t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58.52</a:t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183.2</a:t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68</a:t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Qwen3-30B-A3B</a:t>
                      </a:r>
                    </a:p>
                  </a:txBody>
                  <a:tcPr marT="12700" marB="12700" marL="50800" marR="50800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7F7F7F"/>
                          </a:solidFill>
                        </a:rPr>
                        <a:t>Baseline</a:t>
                      </a:r>
                    </a:p>
                  </a:txBody>
                  <a:tcPr marT="12700" marB="12700" marL="50800" marR="50800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32</a:t>
                      </a:r>
                    </a:p>
                  </a:txBody>
                  <a:tcPr marT="12700" marB="12700" marL="50800" marR="50800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1520</a:t>
                      </a:r>
                    </a:p>
                  </a:txBody>
                  <a:tcPr marT="12700" marB="12700" marL="50800" marR="50800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186.78</a:t>
                      </a:r>
                    </a:p>
                  </a:txBody>
                  <a:tcPr marT="12700" marB="12700" marL="50800" marR="50800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401.5</a:t>
                      </a:r>
                    </a:p>
                  </a:txBody>
                  <a:tcPr marT="12700" marB="12700" marL="50800" marR="50800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-</a:t>
                      </a:r>
                    </a:p>
                  </a:txBody>
                  <a:tcPr marT="12700" marB="12700" marL="50800" marR="50800" anchor="ctr">
                    <a:solidFill>
                      <a:srgbClr val="F2F5F9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/>
                      </a:r>
                    </a:p>
                  </a:txBody>
                  <a:tcPr marT="12700" marB="12700" marL="50800" marR="50800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77B4"/>
                          </a:solidFill>
                        </a:rPr>
                        <a:t>Native CPU offload</a:t>
                      </a:r>
                    </a:p>
                  </a:txBody>
                  <a:tcPr marT="12700" marB="12700" marL="50800" marR="50800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32</a:t>
                      </a:r>
                    </a:p>
                  </a:txBody>
                  <a:tcPr marT="12700" marB="12700" marL="50800" marR="50800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1229</a:t>
                      </a:r>
                    </a:p>
                  </a:txBody>
                  <a:tcPr marT="12700" marB="12700" marL="50800" marR="50800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161.45</a:t>
                      </a:r>
                    </a:p>
                  </a:txBody>
                  <a:tcPr marT="12700" marB="12700" marL="50800" marR="50800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357.9</a:t>
                      </a:r>
                    </a:p>
                  </a:txBody>
                  <a:tcPr marT="12700" marB="12700" marL="50800" marR="50800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38</a:t>
                      </a:r>
                    </a:p>
                  </a:txBody>
                  <a:tcPr marT="12700" marB="12700" marL="50800" marR="50800" anchor="ctr">
                    <a:solidFill>
                      <a:srgbClr val="F2F5F9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/>
                      </a:r>
                    </a:p>
                  </a:txBody>
                  <a:tcPr marT="12700" marB="12700" marL="50800" marR="50800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CA02C"/>
                          </a:solidFill>
                        </a:rPr>
                        <a:t>Native FS offload</a:t>
                      </a:r>
                    </a:p>
                  </a:txBody>
                  <a:tcPr marT="12700" marB="12700" marL="50800" marR="50800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32</a:t>
                      </a:r>
                    </a:p>
                  </a:txBody>
                  <a:tcPr marT="12700" marB="12700" marL="50800" marR="50800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1969</a:t>
                      </a:r>
                    </a:p>
                  </a:txBody>
                  <a:tcPr marT="12700" marB="12700" marL="50800" marR="50800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81.18</a:t>
                      </a:r>
                    </a:p>
                  </a:txBody>
                  <a:tcPr marT="12700" marB="12700" marL="50800" marR="50800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233.2</a:t>
                      </a:r>
                    </a:p>
                  </a:txBody>
                  <a:tcPr marT="12700" marB="12700" marL="50800" marR="50800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85</a:t>
                      </a:r>
                    </a:p>
                  </a:txBody>
                  <a:tcPr marT="12700" marB="12700" marL="50800" marR="50800" anchor="ctr">
                    <a:solidFill>
                      <a:srgbClr val="F2F5F9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Qwen3-32B</a:t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7F7F7F"/>
                          </a:solidFill>
                        </a:rPr>
                        <a:t>Baseline</a:t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32</a:t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1004</a:t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210.82</a:t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454.9</a:t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-</a:t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/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77B4"/>
                          </a:solidFill>
                        </a:rPr>
                        <a:t>Native CPU offload</a:t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32</a:t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1117</a:t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190.62</a:t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405.7</a:t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33</a:t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/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CA02C"/>
                          </a:solidFill>
                        </a:rPr>
                        <a:t>Native FS offload</a:t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32</a:t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1506</a:t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114.84</a:t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322.2</a:t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02020"/>
                          </a:solidFill>
                        </a:rPr>
                        <a:t>87</a:t>
                      </a:r>
                    </a:p>
                  </a:txBody>
                  <a:tcPr marT="12700" marB="12700" marL="50800" marR="508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